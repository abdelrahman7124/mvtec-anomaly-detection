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74519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A78D6"/>
                </a:solidFill>
                <a:latin typeface="Calibri"/>
              </a:rPr>
              <a:t>WEEK 1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395728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0B0B0B"/>
                </a:solidFill>
                <a:latin typeface="Calibri"/>
              </a:rPr>
              <a:t>Detecting Manufacturing Defects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310128"/>
            <a:ext cx="1105783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52514E"/>
                </a:solidFill>
                <a:latin typeface="Calibri"/>
              </a:rPr>
              <a:t>Understanding the MVTec AD dataset before building 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224528"/>
            <a:ext cx="1371600" cy="32004"/>
          </a:xfrm>
          <a:prstGeom prst="rect">
            <a:avLst/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526280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8880"/>
                </a:solidFill>
                <a:latin typeface="Calibri"/>
              </a:rPr>
              <a:t>5,354 images  ·  15 product categories  ·  73 defect types  ·  1,258 pixel-level masks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Calibri"/>
              </a:rPr>
              <a:t>What this presentation covers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371600"/>
            <a:ext cx="45720" cy="8412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3716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0B0B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7328" y="1399032"/>
            <a:ext cx="758311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52514E"/>
                </a:solidFill>
                <a:latin typeface="Calibri"/>
              </a:rPr>
              <a:t>A factory needs to catch defective parts automatically. Defects are rare, varied, and mostly unseen at the time the system is built.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505456"/>
            <a:ext cx="45720" cy="84124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50545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0B0B"/>
                </a:solidFill>
                <a:latin typeface="Calibri"/>
              </a:rPr>
              <a:t>The 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7328" y="2532888"/>
            <a:ext cx="758311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52514E"/>
                </a:solidFill>
                <a:latin typeface="Calibri"/>
              </a:rPr>
              <a:t>MVTec AD: 15 product categories photographed under controlled conditions, with a pixel-accurate mask for every defect in the test set.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39312"/>
            <a:ext cx="45720" cy="8412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63931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0B0B"/>
                </a:solidFill>
                <a:latin typeface="Calibri"/>
              </a:rPr>
              <a:t>The goal of this EDA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3666744"/>
            <a:ext cx="758311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52514E"/>
                </a:solidFill>
                <a:latin typeface="Calibri"/>
              </a:rPr>
              <a:t>Establish what the data allows and forbids, so the modelling approach in week 2 is chosen from evidence rather than habit.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773168"/>
            <a:ext cx="45720" cy="84124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77316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0B0B"/>
                </a:solidFill>
                <a:latin typeface="Calibri"/>
              </a:rPr>
              <a:t>The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67328" y="4800600"/>
            <a:ext cx="758311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52514E"/>
                </a:solidFill>
                <a:latin typeface="Calibri"/>
              </a:rPr>
              <a:t>Six concrete design decisions, each traced back to a specific measurement.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dataset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Every figure in this deck is computed from these images, not quoted from the paper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72768"/>
            <a:ext cx="2661589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72768"/>
            <a:ext cx="2661589" cy="45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883664"/>
            <a:ext cx="229582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B0B0B"/>
                </a:solidFill>
                <a:latin typeface="Calibri"/>
              </a:rPr>
              <a:t>5,354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578608"/>
            <a:ext cx="229582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2514E"/>
                </a:solidFill>
                <a:latin typeface="Calibri"/>
              </a:rPr>
              <a:t>images total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5677" y="1572768"/>
            <a:ext cx="2661589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65677" y="1572768"/>
            <a:ext cx="2661589" cy="4572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845" y="1883664"/>
            <a:ext cx="229582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B0B0B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845" y="2578608"/>
            <a:ext cx="229582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2514E"/>
                </a:solidFill>
                <a:latin typeface="Calibri"/>
              </a:rPr>
              <a:t>categories  (5 textures, 10 objects)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4427" y="1572768"/>
            <a:ext cx="2661589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4427" y="1572768"/>
            <a:ext cx="2661589" cy="457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5595" y="1883664"/>
            <a:ext cx="229582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B0B0B"/>
                </a:solidFill>
                <a:latin typeface="Calibri"/>
              </a:rPr>
              <a:t>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5595" y="2578608"/>
            <a:ext cx="229582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2514E"/>
                </a:solidFill>
                <a:latin typeface="Calibri"/>
              </a:rPr>
              <a:t>distinct defect types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3177" y="1572768"/>
            <a:ext cx="2661589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63177" y="1572768"/>
            <a:ext cx="2661589" cy="4572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64345" y="1883664"/>
            <a:ext cx="229582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B0B0B"/>
                </a:solidFill>
                <a:latin typeface="Calibri"/>
              </a:rPr>
              <a:t>1,258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4345" y="2578608"/>
            <a:ext cx="229582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2514E"/>
                </a:solidFill>
                <a:latin typeface="Calibri"/>
              </a:rPr>
              <a:t>pixel-level defect masks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52958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2514E"/>
                </a:solidFill>
                <a:latin typeface="Calibri"/>
              </a:rPr>
              <a:t>Training images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352958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0B0B"/>
                </a:solidFill>
                <a:latin typeface="Calibri"/>
              </a:rPr>
              <a:t>3,629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3529584"/>
            <a:ext cx="630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2514E"/>
                </a:solidFill>
                <a:latin typeface="Calibri"/>
              </a:rPr>
              <a:t>all defect-free — no anomalies at 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858768"/>
            <a:ext cx="11057839" cy="7315"/>
          </a:xfrm>
          <a:prstGeom prst="rect">
            <a:avLst/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931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2514E"/>
                </a:solidFill>
                <a:latin typeface="Calibri"/>
              </a:rPr>
              <a:t>Test images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39319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0B0B"/>
                </a:solidFill>
                <a:latin typeface="Calibri"/>
              </a:rPr>
              <a:t>1,725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8928" y="3931920"/>
            <a:ext cx="630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2514E"/>
                </a:solidFill>
                <a:latin typeface="Calibri"/>
              </a:rPr>
              <a:t>467 normal, 1,258 anomalous (72.9%)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261104"/>
            <a:ext cx="11057839" cy="7315"/>
          </a:xfrm>
          <a:prstGeom prst="rect">
            <a:avLst/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433425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2514E"/>
                </a:solidFill>
                <a:latin typeface="Calibri"/>
              </a:rPr>
              <a:t>Median defect size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433425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0B0B"/>
                </a:solidFill>
                <a:latin typeface="Calibri"/>
              </a:rPr>
              <a:t>1.54%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38928" y="4334256"/>
            <a:ext cx="630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2514E"/>
                </a:solidFill>
                <a:latin typeface="Calibri"/>
              </a:rPr>
              <a:t>of the image; 39.7% of defects cover under 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4663440"/>
            <a:ext cx="11057839" cy="7315"/>
          </a:xfrm>
          <a:prstGeom prst="rect">
            <a:avLst/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" y="47365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2514E"/>
                </a:solidFill>
                <a:latin typeface="Calibri"/>
              </a:rPr>
              <a:t>Resolutions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1568" y="473659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0B0B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38928" y="4736592"/>
            <a:ext cx="630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2514E"/>
                </a:solidFill>
                <a:latin typeface="Calibri"/>
              </a:rPr>
              <a:t>from 700x700 to 1024x1024; 3 categories are single-channel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065776"/>
            <a:ext cx="11057839" cy="7315"/>
          </a:xfrm>
          <a:prstGeom prst="rect">
            <a:avLst/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Calibri"/>
              </a:rPr>
              <a:t>Fifteen categories, two visual regimes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Five textures (carpet, grid, leather, tile, wood) and ten centred objects</a:t>
            </a:r>
          </a:p>
        </p:txBody>
      </p:sp>
      <p:pic>
        <p:nvPicPr>
          <p:cNvPr id="4" name="Picture 3" descr="fig05_normal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7564" y="1426464"/>
            <a:ext cx="6536567" cy="42611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" y="5888736"/>
            <a:ext cx="11057839" cy="65836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888736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6007608"/>
            <a:ext cx="106006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0B0B0B"/>
                </a:solidFill>
                <a:latin typeface="Calibri"/>
              </a:rPr>
              <a:t>Textures repeat across the whole frame; objects sit in a fixed pose. The two behave differently under augmentation, so they are treated separately.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training set contains no defects at 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This single fact decides the entire modelling approach</a:t>
            </a:r>
          </a:p>
        </p:txBody>
      </p:sp>
      <p:pic>
        <p:nvPicPr>
          <p:cNvPr id="4" name="Picture 3" descr="fig02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16" y="1426464"/>
            <a:ext cx="9476663" cy="42611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" y="5888736"/>
            <a:ext cx="11057839" cy="65836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888736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6007608"/>
            <a:ext cx="106006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0B0B0B"/>
                </a:solidFill>
                <a:latin typeface="Calibri"/>
              </a:rPr>
              <a:t>With 0 anomalies among 3,629 training images, a supervised classifier cannot be fitted. The task is one-class: learn 'normal', then measure deviation.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same one-class split in every category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Train is always defect-free; anomalies appear only at test time</a:t>
            </a:r>
          </a:p>
        </p:txBody>
      </p:sp>
      <p:pic>
        <p:nvPicPr>
          <p:cNvPr id="4" name="Picture 3" descr="fig01_split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7485" y="1426464"/>
            <a:ext cx="5856725" cy="42611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" y="5888736"/>
            <a:ext cx="11057839" cy="65836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888736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6007608"/>
            <a:ext cx="106006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0B0B0B"/>
                </a:solidFill>
                <a:latin typeface="Calibri"/>
              </a:rPr>
              <a:t>Category size ranges from toothbrush (60 training images) to hazelnut (391). Small categories will give the least stable scores.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Calibri"/>
              </a:rPr>
              <a:t>Defects are many, and each one is rare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73 category-specific defect types across the test split</a:t>
            </a:r>
          </a:p>
        </p:txBody>
      </p:sp>
      <p:pic>
        <p:nvPicPr>
          <p:cNvPr id="4" name="Picture 3" descr="fig03_defect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544" y="1426464"/>
            <a:ext cx="9098606" cy="42611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" y="5888736"/>
            <a:ext cx="11057839" cy="65836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888736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6007608"/>
            <a:ext cx="106006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0B0B0B"/>
                </a:solidFill>
                <a:latin typeface="Calibri"/>
              </a:rPr>
              <a:t>The median defect type has only 17 images (minimum 8). Learning one class per defect is not viable — the model must flag anything unlike normal.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Calibri"/>
              </a:rPr>
              <a:t>What the model has to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Ground-truth masks mark every defective pixel</a:t>
            </a:r>
          </a:p>
        </p:txBody>
      </p:sp>
      <p:pic>
        <p:nvPicPr>
          <p:cNvPr id="4" name="Picture 3" descr="fig06b_defect_examples_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08" y="1426464"/>
            <a:ext cx="6449879" cy="42611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" y="5888736"/>
            <a:ext cx="11057839" cy="65836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888736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6007608"/>
            <a:ext cx="106006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0B0B0B"/>
                </a:solidFill>
                <a:latin typeface="Calibri"/>
              </a:rPr>
              <a:t>Defects range from a barely visible scratch on a screw to a completely misplaced transistor. The same detector has to cover both extremes.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Calibri"/>
              </a:rPr>
              <a:t>Most defects are very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Measured directly from the 1,258 ground-truth masks</a:t>
            </a:r>
          </a:p>
        </p:txBody>
      </p:sp>
      <p:pic>
        <p:nvPicPr>
          <p:cNvPr id="4" name="Picture 3" descr="fig07_defect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247" y="1426464"/>
            <a:ext cx="9593201" cy="42611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" y="5888736"/>
            <a:ext cx="11057839" cy="65836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888736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6007608"/>
            <a:ext cx="106006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0B0B0B"/>
                </a:solidFill>
                <a:latin typeface="Calibri"/>
              </a:rPr>
              <a:t>Median defect covers 1.54% of its image and 39.7% cover under 1%. Resizing to 224x224 would shrink a typical small defect to a handful of pixels.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Calibri"/>
              </a:rPr>
              <a:t>Defect size varies hugely between categories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From 0.037% to 49.3% of the image</a:t>
            </a:r>
          </a:p>
        </p:txBody>
      </p:sp>
      <p:pic>
        <p:nvPicPr>
          <p:cNvPr id="4" name="Picture 3" descr="fig08_defect_area_by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253" y="1426464"/>
            <a:ext cx="8125189" cy="42611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" y="5888736"/>
            <a:ext cx="11057839" cy="65836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888736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6007608"/>
            <a:ext cx="106006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0B0B0B"/>
                </a:solidFill>
                <a:latin typeface="Calibri"/>
              </a:rPr>
              <a:t>Screw and capsule defects are an order of magnitude smaller than tile or bottle defects, so a single detection threshold across categories would not work.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Calibri"/>
              </a:rPr>
              <a:t>Images are high-resolution but not uniform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6 distinct resolutions; all images square</a:t>
            </a:r>
          </a:p>
        </p:txBody>
      </p:sp>
      <p:pic>
        <p:nvPicPr>
          <p:cNvPr id="4" name="Picture 3" descr="fig04_image_proper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76" y="1426464"/>
            <a:ext cx="9102142" cy="42611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" y="5888736"/>
            <a:ext cx="11057839" cy="65836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888736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6007608"/>
            <a:ext cx="106006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0B0B0B"/>
                </a:solidFill>
                <a:latin typeface="Calibri"/>
              </a:rPr>
              <a:t>1,213 images in grid, screw, zipper are stored single-channel and must be expanded to three before a pretrained backbone will accept them.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Calibri"/>
              </a:rPr>
              <a:t>Categories look nothing like each other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Mean brightness and colour content, measured per category</a:t>
            </a:r>
          </a:p>
        </p:txBody>
      </p:sp>
      <p:pic>
        <p:nvPicPr>
          <p:cNvPr id="4" name="Picture 3" descr="fig09_appear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539" y="1426464"/>
            <a:ext cx="9144616" cy="42611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" y="5888736"/>
            <a:ext cx="11057839" cy="65836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888736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6007608"/>
            <a:ext cx="106006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0B0B0B"/>
                </a:solidFill>
                <a:latin typeface="Calibri"/>
              </a:rPr>
              <a:t>Brightness spans roughly 48 to 185 on a 0-255 scale. One global normalisation would leave several categories badly off-centre.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Calibri"/>
              </a:rPr>
              <a:t>Defects sit near the image centre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A property of how the dataset was photographed, not of defects in general</a:t>
            </a:r>
          </a:p>
        </p:txBody>
      </p:sp>
      <p:pic>
        <p:nvPicPr>
          <p:cNvPr id="4" name="Picture 3" descr="fig10_defect_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094" y="1426464"/>
            <a:ext cx="8401507" cy="42611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" y="5888736"/>
            <a:ext cx="11057839" cy="65836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888736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6007608"/>
            <a:ext cx="106006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0B0B0B"/>
                </a:solidFill>
                <a:latin typeface="Calibri"/>
              </a:rPr>
              <a:t>48% of defects fall within 0.2 of the centre, identically for textures and objects. A real production line would not centre defects, so this bias must not be learned.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Calibri"/>
              </a:rPr>
              <a:t>Test normals match the training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Checked rather than assumed — a one-class model depends on it</a:t>
            </a:r>
          </a:p>
        </p:txBody>
      </p:sp>
      <p:pic>
        <p:nvPicPr>
          <p:cNvPr id="4" name="Picture 3" descr="fig11_train_test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029" y="1426464"/>
            <a:ext cx="6777637" cy="42611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" y="5888736"/>
            <a:ext cx="11057839" cy="65836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888736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6007608"/>
            <a:ext cx="106006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0B0B0B"/>
                </a:solidFill>
                <a:latin typeface="Calibri"/>
              </a:rPr>
              <a:t>12 of 15 categories agree within ±5 intensity levels. screw, grid and leather drift up to 13.8, so normalisation statistics are computed per category.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Calibri"/>
              </a:rPr>
              <a:t>Six findings, six 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Each decision traces back to a measurement in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17043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8A8880"/>
                </a:solidFill>
                <a:latin typeface="Calibri"/>
              </a:rPr>
              <a:t>WHAT THE DATA 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10528" y="117043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8A8880"/>
                </a:solidFill>
                <a:latin typeface="Calibri"/>
              </a:rPr>
              <a:t>WHAT IT FORCES US TO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08176"/>
            <a:ext cx="11057839" cy="749808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536192"/>
            <a:ext cx="53949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52514E"/>
                </a:solidFill>
                <a:latin typeface="Calibri"/>
              </a:rPr>
              <a:t>0 anomalies in 3,629 training images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81928" y="1499616"/>
            <a:ext cx="36576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8" y="1536192"/>
            <a:ext cx="5029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B0B0B"/>
                </a:solidFill>
                <a:latin typeface="Calibri"/>
              </a:rPr>
              <a:t>One-class method — a supervised classifier is impossible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86000"/>
            <a:ext cx="53949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52514E"/>
                </a:solidFill>
                <a:latin typeface="Calibri"/>
              </a:rPr>
              <a:t>73 defect types, median 17 images each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81928" y="2249424"/>
            <a:ext cx="36576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2286000"/>
            <a:ext cx="5029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B0B0B"/>
                </a:solidFill>
                <a:latin typeface="Calibri"/>
              </a:rPr>
              <a:t>Detect deviation from normal, do not model defect classes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907792"/>
            <a:ext cx="11057839" cy="749808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035808"/>
            <a:ext cx="53949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52514E"/>
                </a:solidFill>
                <a:latin typeface="Calibri"/>
              </a:rPr>
              <a:t>72.9% of the test split is anomalous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999232"/>
            <a:ext cx="36576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3035808"/>
            <a:ext cx="5029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B0B0B"/>
                </a:solidFill>
                <a:latin typeface="Calibri"/>
              </a:rPr>
              <a:t>Report AUROC — accuracy is misleading at this base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785616"/>
            <a:ext cx="53949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52514E"/>
                </a:solidFill>
                <a:latin typeface="Calibri"/>
              </a:rPr>
              <a:t>Median defect covers 1.54% of the image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81928" y="3749040"/>
            <a:ext cx="36576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785616"/>
            <a:ext cx="5029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B0B0B"/>
                </a:solidFill>
                <a:latin typeface="Calibri"/>
              </a:rPr>
              <a:t>Keep input resolution high; score at feature-map level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407408"/>
            <a:ext cx="11057839" cy="749808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535424"/>
            <a:ext cx="53949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52514E"/>
                </a:solidFill>
                <a:latin typeface="Calibri"/>
              </a:rPr>
              <a:t>6 resolutions, 3 single-channel categories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81928" y="4498848"/>
            <a:ext cx="36576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4535424"/>
            <a:ext cx="5029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B0B0B"/>
                </a:solidFill>
                <a:latin typeface="Calibri"/>
              </a:rPr>
              <a:t>Loader resizes consistently and expands channels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285232"/>
            <a:ext cx="53949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52514E"/>
                </a:solidFill>
                <a:latin typeface="Calibri"/>
              </a:rPr>
              <a:t>Brightness spans 48-185; 3 categories drift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81928" y="5248656"/>
            <a:ext cx="36576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5285232"/>
            <a:ext cx="5029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B0B0B"/>
                </a:solidFill>
                <a:latin typeface="Calibri"/>
              </a:rPr>
              <a:t>One model and one normalisation per category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Calibri"/>
              </a:rPr>
              <a:t>Plan for 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The EDA points to one family of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105783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81328"/>
            <a:ext cx="50292" cy="148132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682496"/>
            <a:ext cx="105091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B0B0B"/>
                </a:solidFill>
                <a:latin typeface="Calibri"/>
              </a:rPr>
              <a:t>Baseline: pretrained-CNN feature embedding (PaDiM / PatchCore)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139696"/>
            <a:ext cx="1050919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52514E"/>
                </a:solidFill>
                <a:latin typeface="Calibri"/>
              </a:rPr>
              <a:t>Trains on normal images only, compares local patch features rather than a single pooled embedding, and outputs a pixel-level anomaly map that the ground-truth masks can score directly — matching all six constraints above.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310128"/>
            <a:ext cx="384048" cy="3840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351276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30098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B0B0B"/>
                </a:solidFill>
                <a:latin typeface="Calibri"/>
              </a:rPr>
              <a:t>Build the data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3319272"/>
            <a:ext cx="6943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2514E"/>
                </a:solidFill>
                <a:latin typeface="Calibri"/>
              </a:rPr>
              <a:t>Per-category loaders, consistent resize, channel expansion, no centre crop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023360"/>
            <a:ext cx="384048" cy="3840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4064508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01421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B0B0B"/>
                </a:solidFill>
                <a:latin typeface="Calibri"/>
              </a:rPr>
              <a:t>Implement the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4032504"/>
            <a:ext cx="6943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2514E"/>
                </a:solidFill>
                <a:latin typeface="Calibri"/>
              </a:rPr>
              <a:t>PaDiM on a pretrained backbone, fitted per category on normal images only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736592"/>
            <a:ext cx="384048" cy="3840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777740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7274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B0B0B"/>
                </a:solidFill>
                <a:latin typeface="Calibri"/>
              </a:rPr>
              <a:t>Evaluate honestly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4745736"/>
            <a:ext cx="6943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2514E"/>
                </a:solidFill>
                <a:latin typeface="Calibri"/>
              </a:rPr>
              <a:t>Image-level and pixel-level AUROC per category, averaged across all 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449824"/>
            <a:ext cx="384048" cy="3840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490972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5440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B0B0B"/>
                </a:solidFill>
                <a:latin typeface="Calibri"/>
              </a:rPr>
              <a:t>Iterate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8" y="5458968"/>
            <a:ext cx="6943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2514E"/>
                </a:solidFill>
                <a:latin typeface="Calibri"/>
              </a:rPr>
              <a:t>Compare against PatchCore and an autoencoder; flag toothbrush as small-sample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