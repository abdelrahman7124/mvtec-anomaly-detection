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DATA ANALYSIS AND BASELINE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95728"/>
            <a:ext cx="1105783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B0B0B"/>
                </a:solidFill>
                <a:latin typeface="Calibri"/>
              </a:rPr>
              <a:t>Detecting Manufacturing Defects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310128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52514E"/>
                </a:solidFill>
                <a:latin typeface="Calibri"/>
              </a:rPr>
              <a:t>Unsupervised anomaly detection on the MVTec AD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224528"/>
            <a:ext cx="1371600" cy="32004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52628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A8880"/>
                </a:solidFill>
                <a:latin typeface="Calibri"/>
              </a:rPr>
              <a:t>5,354 images  ·  15 product categories  ·  73 defect types  ·  1,258 pixel-level masks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71600"/>
            <a:ext cx="45720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0208" y="1399032"/>
            <a:ext cx="74002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A factory needs to catch defective parts automatically. Defects are rare, varied, and mostly unseen when the system is built.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505456"/>
            <a:ext cx="45720" cy="8412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50545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2532888"/>
            <a:ext cx="74002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MVTec AD: 15 product categories shot under controlled conditions, with a pixel-accurate mask for every defect in the test 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39312"/>
            <a:ext cx="45720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63931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What the data allows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666744"/>
            <a:ext cx="74002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Six design decisions, each forced by a specific measurement rather than by habit.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773168"/>
            <a:ext cx="45720" cy="84124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7731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Two baselines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4800600"/>
            <a:ext cx="74002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A convolutional autoencoder trained from scratch, and PaDiM on frozen pretrained features. One works far better, and the EDA explains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dataset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Measured from the images, not quoted from the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2661589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2661589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83664"/>
            <a:ext cx="229582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Calibri"/>
              </a:rPr>
              <a:t>5,354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78608"/>
            <a:ext cx="22958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images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5677" y="1572768"/>
            <a:ext cx="2661589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5677" y="1572768"/>
            <a:ext cx="2661589" cy="457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845" y="1883664"/>
            <a:ext cx="229582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845" y="2578608"/>
            <a:ext cx="22958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categories  (5 textures, 10 objects)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4427" y="1572768"/>
            <a:ext cx="2661589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1572768"/>
            <a:ext cx="2661589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5595" y="1883664"/>
            <a:ext cx="229582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Calibri"/>
              </a:rPr>
              <a:t>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5595" y="2578608"/>
            <a:ext cx="22958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distinct defect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3177" y="1572768"/>
            <a:ext cx="2661589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3177" y="1572768"/>
            <a:ext cx="2661589" cy="45720"/>
          </a:xfrm>
          <a:prstGeom prst="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4345" y="1883664"/>
            <a:ext cx="229582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Calibri"/>
              </a:rPr>
              <a:t>1,258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4345" y="2578608"/>
            <a:ext cx="22958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pixel-level defect masks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5295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Training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5295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3,629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529584"/>
            <a:ext cx="6302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all defect-free — no anomalies at 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58768"/>
            <a:ext cx="11057839" cy="731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931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Test images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9319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1,725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931920"/>
            <a:ext cx="6302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467 normal, 1,258 anomalous (72.9%)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261104"/>
            <a:ext cx="11057839" cy="731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33425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Median defect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33425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1.54%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4334256"/>
            <a:ext cx="6302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of the image; 39.7% of defects cover under 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663440"/>
            <a:ext cx="11057839" cy="731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7365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Resolutions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473659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4736592"/>
            <a:ext cx="6302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from 700x700 to 1024x1024; 3 categories are single-channel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065776"/>
            <a:ext cx="11057839" cy="731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Fifteen categories, two visual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Five textures and ten centred objects</a:t>
            </a:r>
          </a:p>
        </p:txBody>
      </p:sp>
      <p:pic>
        <p:nvPicPr>
          <p:cNvPr id="4" name="Picture 3" descr="fig05_normal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569" y="1426464"/>
            <a:ext cx="6554557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Textures repeat across the whole frame; objects sit in a fixed pose. The two behave differently under augmentation, so they are handled separately.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training set contains no defects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This single fact decides the entire modelling approach</a:t>
            </a:r>
          </a:p>
        </p:txBody>
      </p:sp>
      <p:pic>
        <p:nvPicPr>
          <p:cNvPr id="4" name="Picture 3" descr="fig02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16" y="1426464"/>
            <a:ext cx="6864463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With 0 anomalies among 3,629 training images, a supervised classifier cannot be fitted. The task is one-class: learn 'normal', then measure deviation.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same one-class split in every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Train is always defect-free; anomalies appear only at test time</a:t>
            </a:r>
          </a:p>
        </p:txBody>
      </p:sp>
      <p:pic>
        <p:nvPicPr>
          <p:cNvPr id="4" name="Picture 3" descr="fig01_spli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505" y="1426464"/>
            <a:ext cx="6780684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Category size ranges from toothbrush (60 training images) to hazelnut (391). Small categories give the least stable scores.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Defects are many, and each one is rare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73 category-specific defect types across the test split</a:t>
            </a:r>
          </a:p>
        </p:txBody>
      </p:sp>
      <p:pic>
        <p:nvPicPr>
          <p:cNvPr id="4" name="Picture 3" descr="fig03_defect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368" y="1426464"/>
            <a:ext cx="7220959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The median defect type has only 17 images (minimum 8). Learning one class per defect is not viable — the model must flag anything unlike normal.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the model has to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Ground-truth masks mark every defective pixel</a:t>
            </a:r>
          </a:p>
        </p:txBody>
      </p:sp>
      <p:pic>
        <p:nvPicPr>
          <p:cNvPr id="4" name="Picture 3" descr="fig06b_defect_examples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540" y="1426464"/>
            <a:ext cx="6416614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Defects range from a barely visible scratch on a screw to a completely misplaced transistor. The same detector has to cover both extremes.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Most defects are very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Measured directly from the 1,258 ground-truth masks</a:t>
            </a:r>
          </a:p>
        </p:txBody>
      </p:sp>
      <p:pic>
        <p:nvPicPr>
          <p:cNvPr id="4" name="Picture 3" descr="fig07_defect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074" y="1426464"/>
            <a:ext cx="7227547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Median defect covers 1.54% of its image and 39.7% cover under 1%. Resizing to 224x224 would shrink a typical small defect to a handful of pixels.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Defect size varies hugely between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From 0.037% to 49.3% of the image</a:t>
            </a:r>
          </a:p>
        </p:txBody>
      </p:sp>
      <p:pic>
        <p:nvPicPr>
          <p:cNvPr id="4" name="Picture 3" descr="fig08_defect_area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772" y="1426464"/>
            <a:ext cx="6466150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Screw and capsule defects are an order of magnitude smaller than tile or bottle defects, so one detection threshold across categories would not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Images are high-resolution but not uniform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6 distinct resolutions; all images square</a:t>
            </a:r>
          </a:p>
        </p:txBody>
      </p:sp>
      <p:pic>
        <p:nvPicPr>
          <p:cNvPr id="4" name="Picture 3" descr="fig04_image_prope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192" y="1426464"/>
            <a:ext cx="6393311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1,213 images in grid, screw, zipper are stored single-channel and must be expanded to three before a pretrained backbone will accept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Categories look nothing like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Median brightness, measured per category</a:t>
            </a:r>
          </a:p>
        </p:txBody>
      </p:sp>
      <p:pic>
        <p:nvPicPr>
          <p:cNvPr id="4" name="Picture 3" descr="fig09_appea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83" y="1426464"/>
            <a:ext cx="6459529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Brightness spans roughly 48 to 185 on a 0-255 scale. One global normalisation would leave several categories badly off-centre.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Defects sit near the image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A property of how the dataset was photographed, not of defects in general</a:t>
            </a:r>
          </a:p>
        </p:txBody>
      </p:sp>
      <p:pic>
        <p:nvPicPr>
          <p:cNvPr id="4" name="Picture 3" descr="fig10_defect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155" y="1426464"/>
            <a:ext cx="4785385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48% of defects fall within 0.2 of the centre. A real production line would not centre defects, so this bias must not be learned — no centre-cropping.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Test normals match the training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Checked rather than assumed — a one-class model depends on it</a:t>
            </a:r>
          </a:p>
        </p:txBody>
      </p:sp>
      <p:pic>
        <p:nvPicPr>
          <p:cNvPr id="4" name="Picture 3" descr="fig11_train_test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772" y="1426464"/>
            <a:ext cx="6466150" cy="42611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5888736"/>
            <a:ext cx="11057839" cy="65836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8887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6007608"/>
            <a:ext cx="106006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0B0B0B"/>
                </a:solidFill>
                <a:latin typeface="Calibri"/>
              </a:rPr>
              <a:t>12 of 15 categories agree within ±5 intensity levels. screw, grid and leather drift up to 13.8, so normalisation statistics are computed per category.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Six findings, six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Each decision traces back to a measurement in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A8880"/>
                </a:solidFill>
                <a:latin typeface="Calibri"/>
              </a:rPr>
              <a:t>WHAT THE DATA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10528" y="117043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A8880"/>
                </a:solidFill>
                <a:latin typeface="Calibri"/>
              </a:rPr>
              <a:t>WHAT IT FORCES US TO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08176"/>
            <a:ext cx="11057839" cy="749808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36192"/>
            <a:ext cx="5394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0 anomalies in 3,629 training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1499616"/>
            <a:ext cx="36576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36192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One-class method — a supervised classifier is impossible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5394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73 defect types, median 17 images 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2249424"/>
            <a:ext cx="36576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286000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Detect deviation from normal, do not model defect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07792"/>
            <a:ext cx="11057839" cy="749808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035808"/>
            <a:ext cx="5394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72.9% of the test split is anomalous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2999232"/>
            <a:ext cx="36576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035808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Report AUROC — accuracy is misleading at this base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785616"/>
            <a:ext cx="5394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Median defect covers 1.54% of the image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3749040"/>
            <a:ext cx="36576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785616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Keep resolution high; score per patch, not per 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07408"/>
            <a:ext cx="11057839" cy="749808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535424"/>
            <a:ext cx="5394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6 resolutions, 3 single-channel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1928" y="4498848"/>
            <a:ext cx="36576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535424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Loader resizes consistently and expands 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285232"/>
            <a:ext cx="53949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Brightness spans 48-185; 3 categories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8" y="5248656"/>
            <a:ext cx="36576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5285232"/>
            <a:ext cx="5029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B0B0B"/>
                </a:solidFill>
                <a:latin typeface="Calibri"/>
              </a:rPr>
              <a:t>One model and one normalisation per category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